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383280"/>
            <a:ext cx="9144000" cy="17602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🌊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SEA LEVEL RISE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Pacific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Tuvalu – Funafuti Station (1977–2023)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13: Climate Action  |  CST184 Data Analysis &amp; Visualisation  |  Project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Tides &amp; Currents — Station 732-012 Funafuti 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TUVALU?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🏝  Average elevation just 2 metres above sea level — one of the lowest nations on Earth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64792"/>
            <a:ext cx="8412480" cy="658368"/>
          </a:xfrm>
          <a:prstGeom prst="rect">
            <a:avLst/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562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Among the most at-risk nations globally from sea level 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569464"/>
            <a:ext cx="8412480" cy="658368"/>
          </a:xfrm>
          <a:prstGeom prst="rect">
            <a:avLst/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6090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NOAA Funafuti B station: 47 years of continuous tide gauge data (1977–2023)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374136"/>
            <a:ext cx="8412480" cy="658368"/>
          </a:xfrm>
          <a:prstGeom prst="rect">
            <a:avLst/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6557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Directly relevant to SDG 13: Climate Action — used as our primary case study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178808"/>
            <a:ext cx="8412480" cy="658368"/>
          </a:xfrm>
          <a:prstGeom prst="rect">
            <a:avLst/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27024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521 monthly observations — clean, consistent, scientifically validated by NOAA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1–2: DATA IMPORT &amp; EXPLORATION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840480" cy="3749040"/>
          </a:xfrm>
          <a:prstGeom prst="rect">
            <a:avLst/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Source: NOAA Station 732-012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Years: 1977 – 2023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3682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521 monthly rows loaded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798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Only 3 missing values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2278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Converted metres → mm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Baselined to 1993 mean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40873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  47 annual averages used for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960120"/>
            <a:ext cx="4343400" cy="3749040"/>
          </a:xfrm>
          <a:prstGeom prst="rect">
            <a:avLst/>
          </a:prstGeom>
          <a:solidFill>
            <a:srgbClr val="0D2137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051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Function: get_country_data()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1481328"/>
            <a:ext cx="4069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get_country_data(country,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year_start, year_end):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df[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(df['Country']==country)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(df['Year']&gt;=year_start)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(df['Year']&lt;=year_end)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352044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Tuvalu 2000–2020 → 21 rows returned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913632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 of unique countries: {'Tuvalu'}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47 unique years in dataset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3–5: FILTERING, STATS &amp; COUNTING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93392" cy="2103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097280"/>
            <a:ext cx="18836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Rise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" y="1417320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80.6mm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9184" y="2103120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average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1977–2023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1993392" cy="2103120"/>
          </a:xfrm>
          <a:prstGeom prst="rect">
            <a:avLst/>
          </a:prstGeom>
          <a:solidFill>
            <a:srgbClr val="0D2137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05456" y="1097280"/>
            <a:ext cx="18836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Level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05456" y="1417320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190.6mm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05456" y="2103120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significance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(156.8mm)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005840"/>
            <a:ext cx="1993392" cy="2103120"/>
          </a:xfrm>
          <a:prstGeom prst="rect">
            <a:avLst/>
          </a:prstGeom>
          <a:solidFill>
            <a:srgbClr val="0D2137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097280"/>
            <a:ext cx="18836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P(&gt;120mm)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1417320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30.3%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81728" y="2103120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years exceed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120mm (from 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03136" y="1005840"/>
            <a:ext cx="1993392" cy="2103120"/>
          </a:xfrm>
          <a:prstGeom prst="rect">
            <a:avLst/>
          </a:prstGeom>
          <a:solidFill>
            <a:srgbClr val="0D2137"/>
          </a:solidFill>
          <a:ln w="12700">
            <a:solidFill>
              <a:srgbClr val="90BE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097280"/>
            <a:ext cx="18836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B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1417320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58000" y="2103120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readings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annual averages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 Averages (mm)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639312"/>
            <a:ext cx="1298448" cy="914400"/>
          </a:xfrm>
          <a:prstGeom prst="rect">
            <a:avLst/>
          </a:prstGeom>
          <a:solidFill>
            <a:srgbClr val="1A3A5C"/>
          </a:solidFill>
          <a:ln w="3810">
            <a:solidFill>
              <a:srgbClr val="2A4A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6850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397764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746504" y="3639312"/>
            <a:ext cx="1298448" cy="914400"/>
          </a:xfrm>
          <a:prstGeom prst="rect">
            <a:avLst/>
          </a:prstGeom>
          <a:solidFill>
            <a:srgbClr val="1A3A5C"/>
          </a:solidFill>
          <a:ln w="3810">
            <a:solidFill>
              <a:srgbClr val="2A4A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46504" y="36850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46504" y="397764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172968" y="3639312"/>
            <a:ext cx="1298448" cy="914400"/>
          </a:xfrm>
          <a:prstGeom prst="rect">
            <a:avLst/>
          </a:prstGeom>
          <a:solidFill>
            <a:srgbClr val="1A3A5C"/>
          </a:solidFill>
          <a:ln w="3810">
            <a:solidFill>
              <a:srgbClr val="2A4A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72968" y="36850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72968" y="397764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32.9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99432" y="3639312"/>
            <a:ext cx="1298448" cy="914400"/>
          </a:xfrm>
          <a:prstGeom prst="rect">
            <a:avLst/>
          </a:prstGeom>
          <a:solidFill>
            <a:srgbClr val="1A5C3A"/>
          </a:solidFill>
          <a:ln w="3810">
            <a:solidFill>
              <a:srgbClr val="2A4A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9432" y="36850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99432" y="397764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101.9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25896" y="3639312"/>
            <a:ext cx="1298448" cy="914400"/>
          </a:xfrm>
          <a:prstGeom prst="rect">
            <a:avLst/>
          </a:prstGeom>
          <a:solidFill>
            <a:srgbClr val="1A5C3A"/>
          </a:solidFill>
          <a:ln w="3810">
            <a:solidFill>
              <a:srgbClr val="2A4A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25896" y="36850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25896" y="397764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123.6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52360" y="3639312"/>
            <a:ext cx="1298448" cy="914400"/>
          </a:xfrm>
          <a:prstGeom prst="rect">
            <a:avLst/>
          </a:prstGeom>
          <a:solidFill>
            <a:srgbClr val="5C1A1A"/>
          </a:solidFill>
          <a:ln w="3810">
            <a:solidFill>
              <a:srgbClr val="2A4A6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2360" y="36850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52360" y="397764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185.3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PYTHON VISUALISATIONS — LINE CHART &amp; SCATTERPLOT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0"/>
            <a:ext cx="5029200" cy="27432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3931920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3749040"/>
            <a:ext cx="5029200" cy="1051560"/>
          </a:xfrm>
          <a:prstGeom prst="rect">
            <a:avLst/>
          </a:prstGeom>
          <a:solidFill>
            <a:srgbClr val="0D2137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3813048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Clear upward trend 1977–2023. Dips in 1983 and 1998 match El Niño events. Red trend line confirms consistent rise over 47 years.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029200" y="3749040"/>
            <a:ext cx="3931920" cy="1051560"/>
          </a:xfrm>
          <a:prstGeom prst="rect">
            <a:avLst/>
          </a:prstGeom>
          <a:solidFill>
            <a:srgbClr val="0D2137"/>
          </a:solidFill>
          <a:ln w="5080">
            <a:solidFill>
              <a:srgbClr val="FF6B3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166360" y="381304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Post-1993 data coloured by magnitude. Trend line shows +5.0mm/year since the satellite era baseline. Darker reds confirm recent acceleration.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PYTHON VISUALISATIONS — BAR CHART &amp; NETWORK GRAPH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0"/>
            <a:ext cx="5029200" cy="27432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3931920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3749040"/>
            <a:ext cx="5029200" cy="1051560"/>
          </a:xfrm>
          <a:prstGeom prst="rect">
            <a:avLst/>
          </a:prstGeom>
          <a:solidFill>
            <a:srgbClr val="0D2137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3813048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Decade averages show near 8× increase from 1970s (23.7mm) to 2020s (185.3mm). The acceleration is unmistakable — every decade since the 1990s has been higher.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029200" y="3749040"/>
            <a:ext cx="3931920" cy="1051560"/>
          </a:xfrm>
          <a:prstGeom prst="rect">
            <a:avLst/>
          </a:prstGeom>
          <a:solidFill>
            <a:srgbClr val="0D2137"/>
          </a:solidFill>
          <a:ln w="5080">
            <a:solidFill>
              <a:srgbClr val="FF6B3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166360" y="381304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 Network graph: 1970–90s cluster together (similar sea levels). 2000s and 2010s connect. 2020s is completely isolated — sea levels now unlike any previous decade.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8–9: CORRELATION HEATMAP &amp; DISTRIBUTION (R)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0"/>
            <a:ext cx="4389120" cy="3017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14400"/>
            <a:ext cx="4297680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4023360"/>
            <a:ext cx="4389120" cy="822960"/>
          </a:xfrm>
          <a:prstGeom prst="rect">
            <a:avLst/>
          </a:prstGeom>
          <a:solidFill>
            <a:srgbClr val="0D2137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408736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vs Mid periods correlate at 0.41 only. Recent period (2008–2023) shows near-zero correlation with earlier decades — confirms a structural shift in sea level behaviour.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663440" y="4023360"/>
            <a:ext cx="4297680" cy="822960"/>
          </a:xfrm>
          <a:prstGeom prst="rect">
            <a:avLst/>
          </a:prstGeom>
          <a:solidFill>
            <a:srgbClr val="0D2137"/>
          </a:solidFill>
          <a:ln w="5080">
            <a:solidFill>
              <a:srgbClr val="FF6B3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800600" y="408736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80.6mm, SD = 76.2mm. P(&gt;120mm) = 30.3% — nearly 1 in 3 years already exceeds 120mm. Distribution is right-skewed due to accelerating recent values.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10–11: LINEAR REGRESSION &amp; BAYESIAN UPDATE (R)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0"/>
            <a:ext cx="4389120" cy="3017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14400"/>
            <a:ext cx="4297680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4023360"/>
            <a:ext cx="4389120" cy="822960"/>
          </a:xfrm>
          <a:prstGeom prst="rect">
            <a:avLst/>
          </a:prstGeom>
          <a:solidFill>
            <a:srgbClr val="0D2137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408736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= 3.4mm/year, p &lt; 0.001. Statistically significant upward trend confirmed. 95% CI for slope: 2.07–4.72mm/year. Projected total rise 1977–2030: ~180mm.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663440" y="4023360"/>
            <a:ext cx="4297680" cy="822960"/>
          </a:xfrm>
          <a:prstGeom prst="rect">
            <a:avLst/>
          </a:prstGeom>
          <a:solidFill>
            <a:srgbClr val="0D2137"/>
          </a:solidFill>
          <a:ln w="5080">
            <a:solidFill>
              <a:srgbClr val="FF6B3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800600" y="408736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Beta(2,5) updated with 13 years above 110mm out of 47. Posterior centres around 28% — only 13 of 47 years exceeded 110mm, but that proportion is growing rapidly.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12: ARIMA FORECAST TO 2030 (R)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4864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914400"/>
            <a:ext cx="2743200" cy="3474720"/>
          </a:xfrm>
          <a:prstGeom prst="rect">
            <a:avLst/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6364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ARIMA(5,1,0)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63640" y="1417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auto.arima() selected this model automatically based on AIC minimisation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2148840"/>
            <a:ext cx="2468880" cy="347472"/>
          </a:xfrm>
          <a:prstGeom prst="rect">
            <a:avLst/>
          </a:prstGeom>
          <a:solidFill>
            <a:srgbClr val="0A2240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21762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  →   ~189mm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2569464"/>
            <a:ext cx="2468880" cy="347472"/>
          </a:xfrm>
          <a:prstGeom prst="rect">
            <a:avLst/>
          </a:prstGeom>
          <a:solidFill>
            <a:srgbClr val="0A2240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5968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  →   ~175mm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2990088"/>
            <a:ext cx="2468880" cy="347472"/>
          </a:xfrm>
          <a:prstGeom prst="rect">
            <a:avLst/>
          </a:prstGeom>
          <a:solidFill>
            <a:srgbClr val="0A2240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30175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 →   ~182mm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63640" y="3410712"/>
            <a:ext cx="2468880" cy="347472"/>
          </a:xfrm>
          <a:prstGeom prst="rect">
            <a:avLst/>
          </a:prstGeom>
          <a:solidFill>
            <a:srgbClr val="0A2240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34381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  →   ~185mm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63640" y="3831336"/>
            <a:ext cx="2468880" cy="347472"/>
          </a:xfrm>
          <a:prstGeom prst="rect">
            <a:avLst/>
          </a:prstGeom>
          <a:solidFill>
            <a:srgbClr val="0A2240"/>
          </a:solidFill>
          <a:ln w="5080">
            <a:solidFill>
              <a:srgbClr val="FF6B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38587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  →   ~184mm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52628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Uncertainty bands widen to 2030 — lower bound still ~37mm above 1993 baseline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SDG 13 IMPLICATIONS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566928"/>
          </a:xfrm>
          <a:prstGeom prst="rect">
            <a:avLst/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Sea level at Funafuti has risen ~200mm since the 1993 baseline — confirmed across all 12 steps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36776"/>
            <a:ext cx="8412480" cy="566928"/>
          </a:xfrm>
          <a:prstGeom prst="rect">
            <a:avLst/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2821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Trend is accelerating — 2020s decade average is nearly 8× higher than the 1970s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8412480" cy="566928"/>
          </a:xfrm>
          <a:prstGeom prst="rect">
            <a:avLst/>
          </a:prstGeom>
          <a:solidFill>
            <a:srgbClr val="0D2137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0487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1983 and 1998 dips match El Niño events — natural variability on top of the long-term trend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990088"/>
            <a:ext cx="8412480" cy="566928"/>
          </a:xfrm>
          <a:prstGeom prst="rect">
            <a:avLst/>
          </a:prstGeom>
          <a:solidFill>
            <a:srgbClr val="0D2137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8152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Regression (3.4mm/yr), Bayesian update, and ARIMA all converge on the same conclusion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666744"/>
            <a:ext cx="8412480" cy="566928"/>
          </a:xfrm>
          <a:prstGeom prst="rect">
            <a:avLst/>
          </a:prstGeom>
          <a:solidFill>
            <a:srgbClr val="0D2137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5818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With average elevation of 2m, even a 500mm rise threatens the habitability of the islands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0D2137"/>
          </a:solidFill>
          <a:ln w="6350">
            <a:solidFill>
              <a:srgbClr val="FF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348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SDG 13 action is not optional for Tuvalu — it is an existential requirement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REFLECTION: PYTHON vs 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0D2137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Great for data wrangling and cleaning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4825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pandas makes filtering very intuitive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networkx for graph visualisation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9923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matplotlib/seaborn highly customisable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Faster to iterate and debug interactively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5020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for Steps 1–7 (exploration phase)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4114800" cy="3840480"/>
          </a:xfrm>
          <a:prstGeom prst="rect">
            <a:avLst/>
          </a:prstGeom>
          <a:solidFill>
            <a:srgbClr val="0D2137"/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157276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lm() makes regression very readable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04825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Built-in stats: cor(), t.test(), pnorm()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52374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ggplot2 produces publication-quality plots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99923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forecast/auto.arima() is very powerful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47472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Better suited for Steps 8–12 (modelling)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95020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Package install time can be slow in Colab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2026-08-18T00:26:14Z</dcterms:created>
  <dcterms:modified xsi:type="dcterms:W3CDTF">2026-08-18T00:26:14Z</dcterms:modified>
</cp:coreProperties>
</file>